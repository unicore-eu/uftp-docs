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312" autoAdjust="0"/>
  </p:normalViewPr>
  <p:slideViewPr>
    <p:cSldViewPr snapToGrid="0">
      <p:cViewPr varScale="1">
        <p:scale>
          <a:sx n="69" d="100"/>
          <a:sy n="69" d="100"/>
        </p:scale>
        <p:origin x="157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207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371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90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766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50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78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8038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6647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33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27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9029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FD5E3-9FE6-47D6-82DD-5BFE33800862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9195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feld 39">
            <a:extLst>
              <a:ext uri="{FF2B5EF4-FFF2-40B4-BE49-F238E27FC236}">
                <a16:creationId xmlns:a16="http://schemas.microsoft.com/office/drawing/2014/main" id="{000670DA-9892-4C13-8C0E-FD2B76E1F016}"/>
              </a:ext>
            </a:extLst>
          </p:cNvPr>
          <p:cNvSpPr txBox="1"/>
          <p:nvPr/>
        </p:nvSpPr>
        <p:spPr>
          <a:xfrm>
            <a:off x="3334074" y="537565"/>
            <a:ext cx="2063129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Auth Server</a:t>
            </a:r>
            <a:br>
              <a:rPr lang="de-DE" sz="1600" dirty="0"/>
            </a:br>
            <a:r>
              <a:rPr lang="de-DE" sz="1600" dirty="0"/>
              <a:t>(</a:t>
            </a:r>
            <a:r>
              <a:rPr lang="de-DE" sz="1600" dirty="0" err="1"/>
              <a:t>or</a:t>
            </a:r>
            <a:r>
              <a:rPr lang="de-DE" sz="1600" dirty="0"/>
              <a:t> UNICORE/X </a:t>
            </a:r>
            <a:r>
              <a:rPr lang="de-DE" sz="1600" dirty="0" err="1"/>
              <a:t>server</a:t>
            </a:r>
            <a:r>
              <a:rPr lang="de-DE" sz="1600" dirty="0"/>
              <a:t>)</a:t>
            </a:r>
            <a:endParaRPr lang="en-GB" sz="1600" dirty="0"/>
          </a:p>
        </p:txBody>
      </p: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32D62576-6362-4E92-BCB9-CA9FBA185CAD}"/>
              </a:ext>
            </a:extLst>
          </p:cNvPr>
          <p:cNvCxnSpPr>
            <a:cxnSpLocks/>
            <a:stCxn id="100" idx="0"/>
            <a:endCxn id="98" idx="1"/>
          </p:cNvCxnSpPr>
          <p:nvPr/>
        </p:nvCxnSpPr>
        <p:spPr>
          <a:xfrm rot="5400000" flipH="1" flipV="1">
            <a:off x="1648685" y="1119828"/>
            <a:ext cx="1462112" cy="2013299"/>
          </a:xfrm>
          <a:prstGeom prst="bentConnector2">
            <a:avLst/>
          </a:prstGeom>
          <a:ln w="3492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Verbinder: gewinkelt 55">
            <a:extLst>
              <a:ext uri="{FF2B5EF4-FFF2-40B4-BE49-F238E27FC236}">
                <a16:creationId xmlns:a16="http://schemas.microsoft.com/office/drawing/2014/main" id="{308495E1-C0DA-4CD7-A12E-A0A7A3E36BB4}"/>
              </a:ext>
            </a:extLst>
          </p:cNvPr>
          <p:cNvCxnSpPr>
            <a:cxnSpLocks/>
            <a:stCxn id="98" idx="2"/>
            <a:endCxn id="43" idx="1"/>
          </p:cNvCxnSpPr>
          <p:nvPr/>
        </p:nvCxnSpPr>
        <p:spPr>
          <a:xfrm rot="16200000" flipH="1">
            <a:off x="4708217" y="2116306"/>
            <a:ext cx="1312955" cy="2014272"/>
          </a:xfrm>
          <a:prstGeom prst="bentConnector2">
            <a:avLst/>
          </a:prstGeom>
          <a:ln w="3492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Verbinder: gewinkelt 63">
            <a:extLst>
              <a:ext uri="{FF2B5EF4-FFF2-40B4-BE49-F238E27FC236}">
                <a16:creationId xmlns:a16="http://schemas.microsoft.com/office/drawing/2014/main" id="{99DD88C5-5E3E-4BED-8770-62504DFD3897}"/>
              </a:ext>
            </a:extLst>
          </p:cNvPr>
          <p:cNvCxnSpPr>
            <a:cxnSpLocks/>
            <a:stCxn id="100" idx="2"/>
            <a:endCxn id="47" idx="1"/>
          </p:cNvCxnSpPr>
          <p:nvPr/>
        </p:nvCxnSpPr>
        <p:spPr>
          <a:xfrm rot="16200000" flipH="1">
            <a:off x="3390458" y="2637877"/>
            <a:ext cx="1052954" cy="5087686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Verbinder: gewinkelt 68">
            <a:extLst>
              <a:ext uri="{FF2B5EF4-FFF2-40B4-BE49-F238E27FC236}">
                <a16:creationId xmlns:a16="http://schemas.microsoft.com/office/drawing/2014/main" id="{13A89900-6C54-43E0-B77F-5E8E641DFEB1}"/>
              </a:ext>
            </a:extLst>
          </p:cNvPr>
          <p:cNvCxnSpPr>
            <a:cxnSpLocks/>
            <a:stCxn id="100" idx="2"/>
            <a:endCxn id="46" idx="1"/>
          </p:cNvCxnSpPr>
          <p:nvPr/>
        </p:nvCxnSpPr>
        <p:spPr>
          <a:xfrm rot="16200000" flipH="1">
            <a:off x="3413111" y="2615224"/>
            <a:ext cx="921895" cy="5001932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Verbinder: gewinkelt 76">
            <a:extLst>
              <a:ext uri="{FF2B5EF4-FFF2-40B4-BE49-F238E27FC236}">
                <a16:creationId xmlns:a16="http://schemas.microsoft.com/office/drawing/2014/main" id="{FEC80A63-7673-4C45-B972-849E88BBE10A}"/>
              </a:ext>
            </a:extLst>
          </p:cNvPr>
          <p:cNvCxnSpPr>
            <a:cxnSpLocks/>
            <a:stCxn id="100" idx="2"/>
            <a:endCxn id="45" idx="1"/>
          </p:cNvCxnSpPr>
          <p:nvPr/>
        </p:nvCxnSpPr>
        <p:spPr>
          <a:xfrm rot="16200000" flipH="1">
            <a:off x="3429635" y="2598699"/>
            <a:ext cx="790841" cy="4903927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26D14A21-0B88-43DA-B0E1-0EBC713B37C8}"/>
              </a:ext>
            </a:extLst>
          </p:cNvPr>
          <p:cNvSpPr txBox="1"/>
          <p:nvPr/>
        </p:nvSpPr>
        <p:spPr>
          <a:xfrm>
            <a:off x="1495634" y="1584896"/>
            <a:ext cx="19075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dirty="0">
                <a:solidFill>
                  <a:srgbClr val="0070C0"/>
                </a:solidFill>
              </a:rPr>
              <a:t>Authentication </a:t>
            </a:r>
            <a:r>
              <a:rPr lang="de-DE" sz="1400" b="1" dirty="0" err="1">
                <a:solidFill>
                  <a:srgbClr val="0070C0"/>
                </a:solidFill>
              </a:rPr>
              <a:t>request</a:t>
            </a:r>
            <a:endParaRPr lang="en-GB" sz="1400" b="1" dirty="0">
              <a:solidFill>
                <a:srgbClr val="0070C0"/>
              </a:solidFill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ECF1D1C-A345-4401-A4DD-555EA94B4EFA}"/>
              </a:ext>
            </a:extLst>
          </p:cNvPr>
          <p:cNvSpPr txBox="1"/>
          <p:nvPr/>
        </p:nvSpPr>
        <p:spPr>
          <a:xfrm>
            <a:off x="4574428" y="2906957"/>
            <a:ext cx="16987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rgbClr val="0070C0"/>
                </a:solidFill>
              </a:rPr>
              <a:t>Prepare</a:t>
            </a:r>
            <a:r>
              <a:rPr lang="de-DE" sz="1400" b="1" dirty="0">
                <a:solidFill>
                  <a:srgbClr val="0070C0"/>
                </a:solidFill>
              </a:rPr>
              <a:t> FTP </a:t>
            </a:r>
            <a:r>
              <a:rPr lang="de-DE" sz="1400" b="1" dirty="0" err="1">
                <a:solidFill>
                  <a:srgbClr val="0070C0"/>
                </a:solidFill>
              </a:rPr>
              <a:t>session</a:t>
            </a:r>
            <a:r>
              <a:rPr lang="de-DE" sz="1400" b="1" dirty="0">
                <a:solidFill>
                  <a:srgbClr val="0070C0"/>
                </a:solidFill>
              </a:rPr>
              <a:t> </a:t>
            </a:r>
            <a:endParaRPr lang="en-GB" sz="1400" b="1" dirty="0">
              <a:solidFill>
                <a:srgbClr val="0070C0"/>
              </a:solidFill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A6A3D902-927E-448F-A1B0-BA89FCD59360}"/>
              </a:ext>
            </a:extLst>
          </p:cNvPr>
          <p:cNvSpPr txBox="1"/>
          <p:nvPr/>
        </p:nvSpPr>
        <p:spPr>
          <a:xfrm>
            <a:off x="3475262" y="4031996"/>
            <a:ext cx="1929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dirty="0">
                <a:solidFill>
                  <a:srgbClr val="0070C0"/>
                </a:solidFill>
              </a:rPr>
              <a:t>FTP Control Connection</a:t>
            </a:r>
            <a:endParaRPr lang="en-GB" sz="1400" b="1" dirty="0">
              <a:solidFill>
                <a:srgbClr val="0070C0"/>
              </a:solidFill>
            </a:endParaRP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0B57E1AD-EEB3-4F8C-8A56-7AB9D000514C}"/>
              </a:ext>
            </a:extLst>
          </p:cNvPr>
          <p:cNvSpPr txBox="1"/>
          <p:nvPr/>
        </p:nvSpPr>
        <p:spPr>
          <a:xfrm>
            <a:off x="1549086" y="5023927"/>
            <a:ext cx="23834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dirty="0">
                <a:solidFill>
                  <a:srgbClr val="008000"/>
                </a:solidFill>
              </a:rPr>
              <a:t>Passive FTP Data Connections</a:t>
            </a:r>
            <a:endParaRPr lang="en-GB" sz="1400" b="1" dirty="0">
              <a:solidFill>
                <a:srgbClr val="008000"/>
              </a:solidFill>
            </a:endParaRPr>
          </a:p>
        </p:txBody>
      </p:sp>
      <p:sp>
        <p:nvSpPr>
          <p:cNvPr id="87" name="Ellipse 86">
            <a:extLst>
              <a:ext uri="{FF2B5EF4-FFF2-40B4-BE49-F238E27FC236}">
                <a16:creationId xmlns:a16="http://schemas.microsoft.com/office/drawing/2014/main" id="{C7ED80CB-00A2-4FC7-80B1-852CEF67B7FB}"/>
              </a:ext>
            </a:extLst>
          </p:cNvPr>
          <p:cNvSpPr/>
          <p:nvPr/>
        </p:nvSpPr>
        <p:spPr>
          <a:xfrm>
            <a:off x="1209211" y="1726429"/>
            <a:ext cx="295324" cy="3102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1</a:t>
            </a:r>
            <a:endParaRPr lang="en-GB" sz="1600" b="1" dirty="0"/>
          </a:p>
        </p:txBody>
      </p:sp>
      <p:sp>
        <p:nvSpPr>
          <p:cNvPr id="89" name="Ellipse 88">
            <a:extLst>
              <a:ext uri="{FF2B5EF4-FFF2-40B4-BE49-F238E27FC236}">
                <a16:creationId xmlns:a16="http://schemas.microsoft.com/office/drawing/2014/main" id="{22919522-1D63-46DD-B3F2-C4C5B2C4C51F}"/>
              </a:ext>
            </a:extLst>
          </p:cNvPr>
          <p:cNvSpPr/>
          <p:nvPr/>
        </p:nvSpPr>
        <p:spPr>
          <a:xfrm>
            <a:off x="4211825" y="3004627"/>
            <a:ext cx="295324" cy="3102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2</a:t>
            </a:r>
            <a:endParaRPr lang="en-GB" sz="1600" b="1" dirty="0"/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94ED6BBD-B25A-42AA-9367-3C6FEAA6EEF8}"/>
              </a:ext>
            </a:extLst>
          </p:cNvPr>
          <p:cNvSpPr/>
          <p:nvPr/>
        </p:nvSpPr>
        <p:spPr>
          <a:xfrm>
            <a:off x="1225429" y="4990151"/>
            <a:ext cx="295324" cy="310219"/>
          </a:xfrm>
          <a:prstGeom prst="ellipse">
            <a:avLst/>
          </a:prstGeom>
          <a:solidFill>
            <a:srgbClr val="008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4</a:t>
            </a:r>
            <a:endParaRPr lang="en-GB" sz="1600" b="1" dirty="0"/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A51B0A78-7D82-42A1-BE29-97A41F65A540}"/>
              </a:ext>
            </a:extLst>
          </p:cNvPr>
          <p:cNvSpPr/>
          <p:nvPr/>
        </p:nvSpPr>
        <p:spPr>
          <a:xfrm>
            <a:off x="3386391" y="323876"/>
            <a:ext cx="1942333" cy="214308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A191F60E-7B25-4957-8278-5EBD374A961A}"/>
              </a:ext>
            </a:extLst>
          </p:cNvPr>
          <p:cNvSpPr txBox="1"/>
          <p:nvPr/>
        </p:nvSpPr>
        <p:spPr>
          <a:xfrm>
            <a:off x="494261" y="3017366"/>
            <a:ext cx="1848519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 </a:t>
            </a:r>
            <a:r>
              <a:rPr lang="de-DE" b="1" dirty="0" err="1"/>
              <a:t>Cient</a:t>
            </a:r>
            <a:br>
              <a:rPr lang="de-DE" sz="1600" dirty="0"/>
            </a:br>
            <a:r>
              <a:rPr lang="de-DE" sz="1600" dirty="0"/>
              <a:t>(end-user </a:t>
            </a:r>
            <a:r>
              <a:rPr lang="de-DE" sz="1600" dirty="0" err="1"/>
              <a:t>or</a:t>
            </a:r>
            <a:r>
              <a:rPr lang="de-DE" sz="1600" dirty="0"/>
              <a:t> </a:t>
            </a:r>
            <a:r>
              <a:rPr lang="de-DE" sz="1600" dirty="0" err="1"/>
              <a:t>server</a:t>
            </a:r>
            <a:r>
              <a:rPr lang="de-DE" sz="1600" dirty="0"/>
              <a:t>)</a:t>
            </a:r>
            <a:endParaRPr lang="en-GB" sz="1600" dirty="0"/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EB8AFB6D-3B50-4048-BE43-6F9F4E11FDB3}"/>
              </a:ext>
            </a:extLst>
          </p:cNvPr>
          <p:cNvSpPr/>
          <p:nvPr/>
        </p:nvSpPr>
        <p:spPr>
          <a:xfrm>
            <a:off x="390837" y="2857533"/>
            <a:ext cx="1964510" cy="17977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grpSp>
        <p:nvGrpSpPr>
          <p:cNvPr id="130" name="Gruppieren 129">
            <a:extLst>
              <a:ext uri="{FF2B5EF4-FFF2-40B4-BE49-F238E27FC236}">
                <a16:creationId xmlns:a16="http://schemas.microsoft.com/office/drawing/2014/main" id="{09841C67-8BDA-4624-BFA8-733F6B389752}"/>
              </a:ext>
            </a:extLst>
          </p:cNvPr>
          <p:cNvGrpSpPr/>
          <p:nvPr/>
        </p:nvGrpSpPr>
        <p:grpSpPr>
          <a:xfrm>
            <a:off x="6693352" y="305336"/>
            <a:ext cx="1525386" cy="904002"/>
            <a:chOff x="1111447" y="961185"/>
            <a:chExt cx="1293803" cy="741859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DCF18ED4-3E75-4165-8531-9C8FCD19EE89}"/>
                </a:ext>
              </a:extLst>
            </p:cNvPr>
            <p:cNvSpPr/>
            <p:nvPr/>
          </p:nvSpPr>
          <p:spPr>
            <a:xfrm>
              <a:off x="1111447" y="961185"/>
              <a:ext cx="1251993" cy="74185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484743F3-0D4C-4DD1-86AE-B08A2CD142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2046" y="1321597"/>
              <a:ext cx="309635" cy="514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A9BD19B9-0B08-478D-8009-EB2310A41156}"/>
                </a:ext>
              </a:extLst>
            </p:cNvPr>
            <p:cNvSpPr txBox="1"/>
            <p:nvPr/>
          </p:nvSpPr>
          <p:spPr>
            <a:xfrm>
              <a:off x="1150859" y="976400"/>
              <a:ext cx="740908" cy="2525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b="1" dirty="0"/>
                <a:t>Legend</a:t>
              </a:r>
              <a:endParaRPr lang="en-GB" sz="1100" dirty="0"/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8096E60-956D-4C45-BE45-B3C1B64C2E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8475" y="1544925"/>
              <a:ext cx="309635" cy="5142"/>
            </a:xfrm>
            <a:prstGeom prst="line">
              <a:avLst/>
            </a:prstGeom>
            <a:ln w="25400">
              <a:solidFill>
                <a:srgbClr val="008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194DC1A1-72A6-49E1-8718-4856689E1A30}"/>
                </a:ext>
              </a:extLst>
            </p:cNvPr>
            <p:cNvSpPr txBox="1"/>
            <p:nvPr/>
          </p:nvSpPr>
          <p:spPr>
            <a:xfrm>
              <a:off x="1515263" y="1209157"/>
              <a:ext cx="889987" cy="2273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200" dirty="0">
                  <a:solidFill>
                    <a:srgbClr val="0070C0"/>
                  </a:solidFill>
                </a:rPr>
                <a:t>Control </a:t>
              </a:r>
              <a:r>
                <a:rPr lang="de-DE" sz="1200" dirty="0" err="1">
                  <a:solidFill>
                    <a:srgbClr val="0070C0"/>
                  </a:solidFill>
                </a:rPr>
                <a:t>flow</a:t>
              </a:r>
              <a:r>
                <a:rPr lang="de-DE" sz="1200" dirty="0">
                  <a:solidFill>
                    <a:srgbClr val="0070C0"/>
                  </a:solidFill>
                </a:rPr>
                <a:t> </a:t>
              </a:r>
              <a:endParaRPr lang="en-GB" sz="1200" dirty="0">
                <a:solidFill>
                  <a:srgbClr val="0070C0"/>
                </a:solidFill>
              </a:endParaRPr>
            </a:p>
          </p:txBody>
        </p:sp>
        <p:sp>
          <p:nvSpPr>
            <p:cNvPr id="112" name="Textfeld 111">
              <a:extLst>
                <a:ext uri="{FF2B5EF4-FFF2-40B4-BE49-F238E27FC236}">
                  <a16:creationId xmlns:a16="http://schemas.microsoft.com/office/drawing/2014/main" id="{CE18E5CA-AB8A-4145-889E-FD209395C113}"/>
                </a:ext>
              </a:extLst>
            </p:cNvPr>
            <p:cNvSpPr txBox="1"/>
            <p:nvPr/>
          </p:nvSpPr>
          <p:spPr>
            <a:xfrm>
              <a:off x="1522437" y="1408178"/>
              <a:ext cx="740908" cy="2273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200" dirty="0">
                  <a:solidFill>
                    <a:srgbClr val="008000"/>
                  </a:solidFill>
                </a:rPr>
                <a:t>Data </a:t>
              </a:r>
              <a:r>
                <a:rPr lang="de-DE" sz="1200" dirty="0" err="1">
                  <a:solidFill>
                    <a:srgbClr val="008000"/>
                  </a:solidFill>
                </a:rPr>
                <a:t>flow</a:t>
              </a:r>
              <a:r>
                <a:rPr lang="de-DE" sz="1200" dirty="0">
                  <a:solidFill>
                    <a:srgbClr val="008000"/>
                  </a:solidFill>
                </a:rPr>
                <a:t> </a:t>
              </a:r>
              <a:endParaRPr lang="en-GB" sz="1200" dirty="0">
                <a:solidFill>
                  <a:srgbClr val="008000"/>
                </a:solidFill>
              </a:endParaRPr>
            </a:p>
          </p:txBody>
        </p:sp>
      </p:grpSp>
      <p:pic>
        <p:nvPicPr>
          <p:cNvPr id="92" name="Grafik 91">
            <a:extLst>
              <a:ext uri="{FF2B5EF4-FFF2-40B4-BE49-F238E27FC236}">
                <a16:creationId xmlns:a16="http://schemas.microsoft.com/office/drawing/2014/main" id="{4C6E8205-1EB3-4D55-8B7E-DEC4A1C77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68" y="3631372"/>
            <a:ext cx="868048" cy="663135"/>
          </a:xfrm>
          <a:prstGeom prst="rect">
            <a:avLst/>
          </a:prstGeom>
        </p:spPr>
      </p:pic>
      <p:pic>
        <p:nvPicPr>
          <p:cNvPr id="93" name="Grafik 92">
            <a:extLst>
              <a:ext uri="{FF2B5EF4-FFF2-40B4-BE49-F238E27FC236}">
                <a16:creationId xmlns:a16="http://schemas.microsoft.com/office/drawing/2014/main" id="{F6E4E32B-B04E-47A2-BEC6-C66A939BEA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433" y="1301287"/>
            <a:ext cx="926340" cy="957430"/>
          </a:xfrm>
          <a:prstGeom prst="rect">
            <a:avLst/>
          </a:prstGeom>
        </p:spPr>
      </p:pic>
      <p:pic>
        <p:nvPicPr>
          <p:cNvPr id="72" name="Grafik 71">
            <a:extLst>
              <a:ext uri="{FF2B5EF4-FFF2-40B4-BE49-F238E27FC236}">
                <a16:creationId xmlns:a16="http://schemas.microsoft.com/office/drawing/2014/main" id="{422EE592-241D-4F02-8BF9-D181780D08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559" y="1663327"/>
            <a:ext cx="496934" cy="513612"/>
          </a:xfrm>
          <a:prstGeom prst="rect">
            <a:avLst/>
          </a:prstGeom>
        </p:spPr>
      </p:pic>
      <p:cxnSp>
        <p:nvCxnSpPr>
          <p:cNvPr id="103" name="Verbinder: gewinkelt 102">
            <a:extLst>
              <a:ext uri="{FF2B5EF4-FFF2-40B4-BE49-F238E27FC236}">
                <a16:creationId xmlns:a16="http://schemas.microsoft.com/office/drawing/2014/main" id="{DCE624EC-F4A2-4870-B06E-34A1E3493FD9}"/>
              </a:ext>
            </a:extLst>
          </p:cNvPr>
          <p:cNvCxnSpPr>
            <a:cxnSpLocks/>
            <a:stCxn id="100" idx="3"/>
            <a:endCxn id="44" idx="1"/>
          </p:cNvCxnSpPr>
          <p:nvPr/>
        </p:nvCxnSpPr>
        <p:spPr>
          <a:xfrm>
            <a:off x="2355347" y="3756388"/>
            <a:ext cx="4035037" cy="894318"/>
          </a:xfrm>
          <a:prstGeom prst="bentConnector3">
            <a:avLst>
              <a:gd name="adj1" fmla="val 23562"/>
            </a:avLst>
          </a:prstGeom>
          <a:ln w="3492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A243A41-BB41-4C8E-87A5-7E74A88ADFF5}"/>
              </a:ext>
            </a:extLst>
          </p:cNvPr>
          <p:cNvGrpSpPr/>
          <p:nvPr/>
        </p:nvGrpSpPr>
        <p:grpSpPr>
          <a:xfrm>
            <a:off x="6277019" y="1683694"/>
            <a:ext cx="2160406" cy="4814088"/>
            <a:chOff x="6180034" y="1993141"/>
            <a:chExt cx="2160406" cy="4185986"/>
          </a:xfrm>
        </p:grpSpPr>
        <p:sp>
          <p:nvSpPr>
            <p:cNvPr id="99" name="Rechteck: abgerundete Ecken 98">
              <a:extLst>
                <a:ext uri="{FF2B5EF4-FFF2-40B4-BE49-F238E27FC236}">
                  <a16:creationId xmlns:a16="http://schemas.microsoft.com/office/drawing/2014/main" id="{C40587F3-FB08-4311-A205-85AF672C9347}"/>
                </a:ext>
              </a:extLst>
            </p:cNvPr>
            <p:cNvSpPr/>
            <p:nvPr/>
          </p:nvSpPr>
          <p:spPr>
            <a:xfrm>
              <a:off x="6433691" y="1993141"/>
              <a:ext cx="1906749" cy="4185986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E092C4C-4AC9-417B-89C1-AB0BBD4047A1}"/>
                </a:ext>
              </a:extLst>
            </p:cNvPr>
            <p:cNvSpPr txBox="1"/>
            <p:nvPr/>
          </p:nvSpPr>
          <p:spPr>
            <a:xfrm>
              <a:off x="6675967" y="2205492"/>
              <a:ext cx="1489447" cy="3211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b="1" dirty="0"/>
                <a:t>UFTPD Server</a:t>
              </a:r>
              <a:endParaRPr lang="en-GB" dirty="0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F37F80B-00B6-43FC-B00D-42A817E173EA}"/>
                </a:ext>
              </a:extLst>
            </p:cNvPr>
            <p:cNvSpPr/>
            <p:nvPr/>
          </p:nvSpPr>
          <p:spPr>
            <a:xfrm>
              <a:off x="6274845" y="3688699"/>
              <a:ext cx="339828" cy="254340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9A2CF124-8B16-4213-8943-707C6C61D000}"/>
                </a:ext>
              </a:extLst>
            </p:cNvPr>
            <p:cNvSpPr/>
            <p:nvPr/>
          </p:nvSpPr>
          <p:spPr>
            <a:xfrm>
              <a:off x="6293399" y="4445872"/>
              <a:ext cx="339828" cy="254340"/>
            </a:xfrm>
            <a:prstGeom prst="rect">
              <a:avLst/>
            </a:prstGeom>
            <a:solidFill>
              <a:srgbClr val="008000"/>
            </a:solidFill>
            <a:ln w="22225">
              <a:solidFill>
                <a:srgbClr val="008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 dirty="0"/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7CDC7DB5-5914-49C2-B017-83EFC50ABCEF}"/>
                </a:ext>
              </a:extLst>
            </p:cNvPr>
            <p:cNvSpPr/>
            <p:nvPr/>
          </p:nvSpPr>
          <p:spPr>
            <a:xfrm>
              <a:off x="6180034" y="5182393"/>
              <a:ext cx="318328" cy="164506"/>
            </a:xfrm>
            <a:prstGeom prst="rect">
              <a:avLst/>
            </a:prstGeom>
            <a:solidFill>
              <a:srgbClr val="92D05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4033F9D3-DC4E-4BBE-A5F0-2197F1A5B39E}"/>
                </a:ext>
              </a:extLst>
            </p:cNvPr>
            <p:cNvSpPr/>
            <p:nvPr/>
          </p:nvSpPr>
          <p:spPr>
            <a:xfrm>
              <a:off x="6278039" y="5296348"/>
              <a:ext cx="318328" cy="164506"/>
            </a:xfrm>
            <a:prstGeom prst="rect">
              <a:avLst/>
            </a:prstGeom>
            <a:solidFill>
              <a:srgbClr val="92D05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561E461A-BF9F-402B-B58F-4E2970C240A5}"/>
                </a:ext>
              </a:extLst>
            </p:cNvPr>
            <p:cNvSpPr/>
            <p:nvPr/>
          </p:nvSpPr>
          <p:spPr>
            <a:xfrm>
              <a:off x="6363793" y="5410307"/>
              <a:ext cx="318328" cy="164506"/>
            </a:xfrm>
            <a:prstGeom prst="rect">
              <a:avLst/>
            </a:prstGeom>
            <a:solidFill>
              <a:srgbClr val="92D05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D5D798D5-8C66-432F-9176-7A715B9C0170}"/>
                </a:ext>
              </a:extLst>
            </p:cNvPr>
            <p:cNvSpPr txBox="1"/>
            <p:nvPr/>
          </p:nvSpPr>
          <p:spPr>
            <a:xfrm>
              <a:off x="6638116" y="3669481"/>
              <a:ext cx="1306768" cy="4549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b="1" dirty="0"/>
                <a:t>Command </a:t>
              </a:r>
              <a:r>
                <a:rPr lang="de-DE" sz="1400" b="1" dirty="0" err="1"/>
                <a:t>port</a:t>
              </a:r>
              <a:br>
                <a:rPr lang="de-DE" sz="1400" dirty="0"/>
              </a:br>
              <a:endParaRPr lang="en-GB" sz="1400" dirty="0"/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FC978FC2-35B3-4F1D-95B3-319D19302808}"/>
                </a:ext>
              </a:extLst>
            </p:cNvPr>
            <p:cNvSpPr txBox="1"/>
            <p:nvPr/>
          </p:nvSpPr>
          <p:spPr>
            <a:xfrm>
              <a:off x="6661560" y="4443953"/>
              <a:ext cx="980397" cy="4549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pPr algn="l"/>
              <a:r>
                <a:rPr lang="de-DE" sz="1400" b="1" dirty="0"/>
                <a:t>Listen </a:t>
              </a:r>
              <a:r>
                <a:rPr lang="de-DE" sz="1400" b="1" dirty="0" err="1"/>
                <a:t>port</a:t>
              </a:r>
              <a:br>
                <a:rPr lang="de-DE" sz="1400" b="1" dirty="0"/>
              </a:br>
              <a:endParaRPr lang="en-GB" sz="1400" b="1" dirty="0"/>
            </a:p>
          </p:txBody>
        </p: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628665A9-6B92-45BF-B501-3E63E2BD6C25}"/>
                </a:ext>
              </a:extLst>
            </p:cNvPr>
            <p:cNvSpPr txBox="1"/>
            <p:nvPr/>
          </p:nvSpPr>
          <p:spPr>
            <a:xfrm>
              <a:off x="6692511" y="5158597"/>
              <a:ext cx="1373891" cy="2676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pPr algn="l"/>
              <a:r>
                <a:rPr lang="de-DE" sz="1400" b="1" dirty="0"/>
                <a:t>Data </a:t>
              </a:r>
              <a:r>
                <a:rPr lang="de-DE" sz="1400" b="1" dirty="0" err="1"/>
                <a:t>ports</a:t>
              </a:r>
              <a:endParaRPr lang="de-DE" sz="1400" b="1" dirty="0"/>
            </a:p>
          </p:txBody>
        </p:sp>
        <p:sp>
          <p:nvSpPr>
            <p:cNvPr id="116" name="Textfeld 115">
              <a:extLst>
                <a:ext uri="{FF2B5EF4-FFF2-40B4-BE49-F238E27FC236}">
                  <a16:creationId xmlns:a16="http://schemas.microsoft.com/office/drawing/2014/main" id="{31470ACF-55D1-436D-BEA0-5B2184EE9B54}"/>
                </a:ext>
              </a:extLst>
            </p:cNvPr>
            <p:cNvSpPr txBox="1"/>
            <p:nvPr/>
          </p:nvSpPr>
          <p:spPr>
            <a:xfrm>
              <a:off x="6681239" y="5398997"/>
              <a:ext cx="1578906" cy="4549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pPr algn="l"/>
              <a:r>
                <a:rPr lang="de-DE" sz="1400" dirty="0"/>
                <a:t>(</a:t>
              </a:r>
              <a:r>
                <a:rPr lang="de-DE" sz="1400" dirty="0" err="1"/>
                <a:t>dynamic</a:t>
              </a:r>
              <a:r>
                <a:rPr lang="de-DE" sz="1400" dirty="0"/>
                <a:t> </a:t>
              </a:r>
              <a:r>
                <a:rPr lang="de-DE" sz="1400" dirty="0" err="1"/>
                <a:t>or</a:t>
              </a:r>
              <a:r>
                <a:rPr lang="de-DE" sz="1400" dirty="0"/>
                <a:t> </a:t>
              </a:r>
              <a:r>
                <a:rPr lang="de-DE" sz="1400" dirty="0" err="1"/>
                <a:t>configured</a:t>
              </a:r>
              <a:r>
                <a:rPr lang="de-DE" sz="1400" dirty="0"/>
                <a:t> </a:t>
              </a:r>
              <a:r>
                <a:rPr lang="de-DE" sz="1400" dirty="0" err="1"/>
                <a:t>range</a:t>
              </a:r>
              <a:r>
                <a:rPr lang="de-DE" sz="1400" dirty="0"/>
                <a:t>)</a:t>
              </a:r>
              <a:endParaRPr lang="en-GB" sz="1600" dirty="0"/>
            </a:p>
          </p:txBody>
        </p:sp>
        <p:pic>
          <p:nvPicPr>
            <p:cNvPr id="123" name="Grafik 122">
              <a:extLst>
                <a:ext uri="{FF2B5EF4-FFF2-40B4-BE49-F238E27FC236}">
                  <a16:creationId xmlns:a16="http://schemas.microsoft.com/office/drawing/2014/main" id="{5F608270-20C0-4C3D-912A-FE42750A8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898" y="2621061"/>
              <a:ext cx="731542" cy="927724"/>
            </a:xfrm>
            <a:prstGeom prst="rect">
              <a:avLst/>
            </a:prstGeom>
          </p:spPr>
        </p:pic>
      </p:grpSp>
      <p:sp>
        <p:nvSpPr>
          <p:cNvPr id="3" name="Textfeld 2">
            <a:extLst>
              <a:ext uri="{FF2B5EF4-FFF2-40B4-BE49-F238E27FC236}">
                <a16:creationId xmlns:a16="http://schemas.microsoft.com/office/drawing/2014/main" id="{3B354CF3-9F23-4FDD-A1F6-1DA43EB81531}"/>
              </a:ext>
            </a:extLst>
          </p:cNvPr>
          <p:cNvSpPr txBox="1"/>
          <p:nvPr/>
        </p:nvSpPr>
        <p:spPr>
          <a:xfrm>
            <a:off x="1503323" y="1829080"/>
            <a:ext cx="1886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i="1" dirty="0"/>
              <a:t>(</a:t>
            </a:r>
            <a:r>
              <a:rPr lang="de-DE" sz="1400" i="1" dirty="0" err="1"/>
              <a:t>username</a:t>
            </a:r>
            <a:r>
              <a:rPr lang="de-DE" sz="1400" i="1" dirty="0"/>
              <a:t> + </a:t>
            </a:r>
            <a:r>
              <a:rPr lang="de-DE" sz="1400" i="1" dirty="0" err="1"/>
              <a:t>password</a:t>
            </a:r>
            <a:r>
              <a:rPr lang="de-DE" sz="1400" i="1" dirty="0"/>
              <a:t>)</a:t>
            </a:r>
            <a:endParaRPr lang="en-GB" sz="1400" i="1" dirty="0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F21398CE-8541-471B-8D1F-8282D4FEBD32}"/>
              </a:ext>
            </a:extLst>
          </p:cNvPr>
          <p:cNvSpPr txBox="1"/>
          <p:nvPr/>
        </p:nvSpPr>
        <p:spPr>
          <a:xfrm>
            <a:off x="4556865" y="3164191"/>
            <a:ext cx="1632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 dirty="0"/>
              <a:t>(</a:t>
            </a:r>
            <a:r>
              <a:rPr lang="de-DE" sz="1400" i="1" dirty="0" err="1"/>
              <a:t>local</a:t>
            </a:r>
            <a:r>
              <a:rPr lang="de-DE" sz="1400" i="1" dirty="0"/>
              <a:t> </a:t>
            </a:r>
            <a:r>
              <a:rPr lang="de-DE" sz="1400" i="1" dirty="0" err="1"/>
              <a:t>username</a:t>
            </a:r>
            <a:r>
              <a:rPr lang="de-DE" sz="1400" i="1" dirty="0"/>
              <a:t> +</a:t>
            </a:r>
            <a:br>
              <a:rPr lang="de-DE" sz="1400" i="1" dirty="0"/>
            </a:br>
            <a:r>
              <a:rPr lang="de-DE" sz="1400" i="1" dirty="0" err="1"/>
              <a:t>one</a:t>
            </a:r>
            <a:r>
              <a:rPr lang="de-DE" sz="1400" i="1" dirty="0"/>
              <a:t>-time </a:t>
            </a:r>
            <a:r>
              <a:rPr lang="de-DE" sz="1400" i="1" dirty="0" err="1"/>
              <a:t>password</a:t>
            </a:r>
            <a:r>
              <a:rPr lang="de-DE" sz="1400" i="1" dirty="0"/>
              <a:t>)</a:t>
            </a:r>
            <a:endParaRPr lang="en-GB" sz="1400" i="1" dirty="0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9613CA5-FFF9-4495-9CCF-0FA24873BD0E}"/>
              </a:ext>
            </a:extLst>
          </p:cNvPr>
          <p:cNvSpPr txBox="1"/>
          <p:nvPr/>
        </p:nvSpPr>
        <p:spPr>
          <a:xfrm>
            <a:off x="3511007" y="4255718"/>
            <a:ext cx="16872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i="1" dirty="0"/>
              <a:t>(</a:t>
            </a:r>
            <a:r>
              <a:rPr lang="de-DE" sz="1400" i="1" dirty="0" err="1"/>
              <a:t>one</a:t>
            </a:r>
            <a:r>
              <a:rPr lang="de-DE" sz="1400" i="1" dirty="0"/>
              <a:t>-time </a:t>
            </a:r>
            <a:r>
              <a:rPr lang="de-DE" sz="1400" i="1" dirty="0" err="1"/>
              <a:t>password</a:t>
            </a:r>
            <a:r>
              <a:rPr lang="de-DE" sz="1400" i="1" dirty="0"/>
              <a:t>)</a:t>
            </a:r>
            <a:endParaRPr lang="en-GB" sz="1400" i="1" dirty="0"/>
          </a:p>
        </p:txBody>
      </p:sp>
      <p:sp>
        <p:nvSpPr>
          <p:cNvPr id="95" name="Ellipse 94">
            <a:extLst>
              <a:ext uri="{FF2B5EF4-FFF2-40B4-BE49-F238E27FC236}">
                <a16:creationId xmlns:a16="http://schemas.microsoft.com/office/drawing/2014/main" id="{EDA49B51-AA97-4B64-9D72-C8D8B3A6DC44}"/>
              </a:ext>
            </a:extLst>
          </p:cNvPr>
          <p:cNvSpPr/>
          <p:nvPr/>
        </p:nvSpPr>
        <p:spPr>
          <a:xfrm>
            <a:off x="3160263" y="4066236"/>
            <a:ext cx="295324" cy="3102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3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198809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72</Words>
  <Application>Microsoft Office PowerPoint</Application>
  <PresentationFormat>Bildschirmpräsentation (4:3)</PresentationFormat>
  <Paragraphs>21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Valentina Huber</dc:creator>
  <cp:lastModifiedBy>Valentina Huber</cp:lastModifiedBy>
  <cp:revision>38</cp:revision>
  <dcterms:created xsi:type="dcterms:W3CDTF">2026-08-05T11:08:07Z</dcterms:created>
  <dcterms:modified xsi:type="dcterms:W3CDTF">2026-09-02T09:14:19Z</dcterms:modified>
</cp:coreProperties>
</file>