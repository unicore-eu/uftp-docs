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C8C5F"/>
    <a:srgbClr val="285CAA"/>
    <a:srgbClr val="6C489B"/>
    <a:srgbClr val="DFDFD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4" d="100"/>
          <a:sy n="104" d="100"/>
        </p:scale>
        <p:origin x="114" y="19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5DA450B-71D4-434C-95C7-25BB7098337D}" type="datetimeFigureOut">
              <a:rPr lang="en-GB" smtClean="0"/>
              <a:t>07/07/2026</a:t>
            </a:fld>
            <a:endParaRPr lang="en-GB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GB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2F557F7-279B-4C34-BF56-9F38EB4210D2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409008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2F557F7-279B-4C34-BF56-9F38EB4210D2}" type="slidenum">
              <a:rPr lang="en-GB" smtClean="0"/>
              <a:t>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19072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72835" y="182880"/>
            <a:ext cx="4249305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rPr sz="2000" dirty="0"/>
              <a:t>UFTP Test Installation</a:t>
            </a:r>
            <a:r>
              <a:rPr lang="de-DE" sz="2000" dirty="0"/>
              <a:t>: Authentication</a:t>
            </a:r>
            <a:endParaRPr sz="2000" dirty="0"/>
          </a:p>
        </p:txBody>
      </p:sp>
      <p:sp>
        <p:nvSpPr>
          <p:cNvPr id="3" name="Rounded Rectangle 2"/>
          <p:cNvSpPr/>
          <p:nvPr/>
        </p:nvSpPr>
        <p:spPr>
          <a:xfrm>
            <a:off x="1018422" y="864690"/>
            <a:ext cx="1369188" cy="411480"/>
          </a:xfrm>
          <a:prstGeom prst="roundRect">
            <a:avLst/>
          </a:prstGeom>
          <a:solidFill>
            <a:srgbClr val="285CAA"/>
          </a:solidFill>
          <a:ln>
            <a:solidFill>
              <a:srgbClr val="285C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/>
            </a:pPr>
            <a:r>
              <a:rPr sz="1600" dirty="0"/>
              <a:t>UFTP Client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133707" y="1857240"/>
            <a:ext cx="1645920" cy="411480"/>
          </a:xfrm>
          <a:prstGeom prst="roundRect">
            <a:avLst/>
          </a:prstGeom>
          <a:solidFill>
            <a:srgbClr val="4C8C5F"/>
          </a:solidFill>
          <a:ln>
            <a:solidFill>
              <a:srgbClr val="4C8C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/>
            </a:pPr>
            <a:r>
              <a:rPr sz="1600" dirty="0"/>
              <a:t>Auth Server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519930" y="864690"/>
            <a:ext cx="1645920" cy="411480"/>
          </a:xfrm>
          <a:prstGeom prst="roundRect">
            <a:avLst/>
          </a:prstGeom>
          <a:solidFill>
            <a:srgbClr val="6C489B"/>
          </a:solidFill>
          <a:ln>
            <a:solidFill>
              <a:srgbClr val="6C48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/>
            </a:pPr>
            <a:r>
              <a:rPr sz="1600" dirty="0"/>
              <a:t>UFTPD Server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75016" y="2389097"/>
            <a:ext cx="1455538" cy="875241"/>
          </a:xfrm>
          <a:prstGeom prst="roundRect">
            <a:avLst/>
          </a:prstGeom>
          <a:solidFill>
            <a:schemeClr val="accent1">
              <a:lumMod val="60000"/>
              <a:lumOff val="40000"/>
              <a:alpha val="30000"/>
            </a:schemeClr>
          </a:solidFill>
          <a:ln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/>
            </a:pPr>
            <a:endParaRPr dirty="0">
              <a:solidFill>
                <a:srgbClr val="002060"/>
              </a:solidFill>
            </a:endParaRPr>
          </a:p>
          <a:p>
            <a:pPr>
              <a:defRPr sz="1400"/>
            </a:pPr>
            <a:r>
              <a:rPr sz="1200" dirty="0">
                <a:solidFill>
                  <a:srgbClr val="002060"/>
                </a:solidFill>
              </a:rPr>
              <a:t>• username</a:t>
            </a:r>
          </a:p>
          <a:p>
            <a:pPr>
              <a:defRPr sz="1400"/>
            </a:pPr>
            <a:r>
              <a:rPr sz="1200" dirty="0">
                <a:solidFill>
                  <a:srgbClr val="002060"/>
                </a:solidFill>
              </a:rPr>
              <a:t>• password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65966" y="3562909"/>
            <a:ext cx="2355726" cy="867127"/>
          </a:xfrm>
          <a:prstGeom prst="roundRect">
            <a:avLst/>
          </a:prstGeom>
          <a:solidFill>
            <a:schemeClr val="accent3">
              <a:lumMod val="60000"/>
              <a:lumOff val="40000"/>
              <a:alpha val="31000"/>
            </a:schemeClr>
          </a:solidFill>
          <a:ln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br>
              <a:rPr lang="en-GB" sz="1200" dirty="0">
                <a:solidFill>
                  <a:srgbClr val="002060"/>
                </a:solidFill>
              </a:rPr>
            </a:br>
            <a:br>
              <a:rPr lang="en-GB" sz="1200" dirty="0">
                <a:solidFill>
                  <a:srgbClr val="002060"/>
                </a:solidFill>
              </a:rPr>
            </a:br>
            <a:r>
              <a:rPr lang="en-GB" sz="1200" dirty="0">
                <a:solidFill>
                  <a:srgbClr val="002060"/>
                </a:solidFill>
              </a:rPr>
              <a:t>• auth.p12</a:t>
            </a:r>
          </a:p>
          <a:p>
            <a:pPr>
              <a:defRPr sz="1400"/>
            </a:pPr>
            <a:r>
              <a:rPr lang="en-GB" sz="1200" dirty="0">
                <a:solidFill>
                  <a:srgbClr val="002060"/>
                </a:solidFill>
              </a:rPr>
              <a:t>• </a:t>
            </a:r>
            <a:r>
              <a:rPr lang="en-GB" sz="1200" dirty="0" err="1">
                <a:solidFill>
                  <a:srgbClr val="002060"/>
                </a:solidFill>
              </a:rPr>
              <a:t>cacert.pem</a:t>
            </a:r>
            <a:r>
              <a:rPr lang="en-GB" sz="1200" dirty="0">
                <a:solidFill>
                  <a:srgbClr val="002060"/>
                </a:solidFill>
              </a:rPr>
              <a:t> </a:t>
            </a:r>
          </a:p>
          <a:p>
            <a:pPr>
              <a:defRPr sz="1400"/>
            </a:pPr>
            <a:endParaRPr lang="en-GB" sz="1200" dirty="0">
              <a:solidFill>
                <a:srgbClr val="002060"/>
              </a:solidFill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9624663" y="2754480"/>
            <a:ext cx="1407776" cy="897186"/>
          </a:xfrm>
          <a:prstGeom prst="roundRect">
            <a:avLst/>
          </a:prstGeom>
          <a:solidFill>
            <a:schemeClr val="accent4">
              <a:lumMod val="60000"/>
              <a:lumOff val="40000"/>
              <a:alpha val="30000"/>
            </a:schemeClr>
          </a:solidFill>
          <a:ln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endParaRPr lang="de-DE" sz="1200" dirty="0">
              <a:solidFill>
                <a:srgbClr val="002060"/>
              </a:solidFill>
            </a:endParaRPr>
          </a:p>
          <a:p>
            <a:pPr>
              <a:defRPr sz="1400"/>
            </a:pPr>
            <a:r>
              <a:rPr sz="1200" dirty="0">
                <a:solidFill>
                  <a:srgbClr val="002060"/>
                </a:solidFill>
              </a:rPr>
              <a:t>• </a:t>
            </a:r>
            <a:r>
              <a:rPr sz="1200" dirty="0" err="1">
                <a:solidFill>
                  <a:srgbClr val="002060"/>
                </a:solidFill>
              </a:rPr>
              <a:t>uftpd.pem</a:t>
            </a:r>
            <a:r>
              <a:rPr lang="de-DE" sz="1200" dirty="0">
                <a:solidFill>
                  <a:srgbClr val="002060"/>
                </a:solidFill>
              </a:rPr>
              <a:t> </a:t>
            </a:r>
            <a:endParaRPr sz="1200" dirty="0">
              <a:solidFill>
                <a:srgbClr val="002060"/>
              </a:solidFill>
            </a:endParaRPr>
          </a:p>
          <a:p>
            <a:pPr>
              <a:defRPr sz="1400"/>
            </a:pPr>
            <a:r>
              <a:rPr sz="1200" dirty="0">
                <a:solidFill>
                  <a:srgbClr val="002060"/>
                </a:solidFill>
              </a:rPr>
              <a:t>• </a:t>
            </a:r>
            <a:r>
              <a:rPr sz="1200" dirty="0" err="1">
                <a:solidFill>
                  <a:srgbClr val="002060"/>
                </a:solidFill>
              </a:rPr>
              <a:t>cacert.pem</a:t>
            </a:r>
            <a:r>
              <a:rPr lang="de-DE" sz="1200" dirty="0">
                <a:solidFill>
                  <a:srgbClr val="002060"/>
                </a:solidFill>
              </a:rPr>
              <a:t> </a:t>
            </a:r>
            <a:endParaRPr sz="1200" dirty="0">
              <a:solidFill>
                <a:srgbClr val="002060"/>
              </a:solidFill>
            </a:endParaRPr>
          </a:p>
        </p:txBody>
      </p:sp>
      <p:cxnSp>
        <p:nvCxnSpPr>
          <p:cNvPr id="9" name="Connector 8"/>
          <p:cNvCxnSpPr>
            <a:cxnSpLocks/>
          </p:cNvCxnSpPr>
          <p:nvPr/>
        </p:nvCxnSpPr>
        <p:spPr>
          <a:xfrm>
            <a:off x="2309780" y="1872954"/>
            <a:ext cx="3116934" cy="949450"/>
          </a:xfrm>
          <a:prstGeom prst="line">
            <a:avLst/>
          </a:prstGeom>
          <a:ln>
            <a:solidFill>
              <a:srgbClr val="285CAA"/>
            </a:solidFill>
            <a:headEnd type="diamon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>
            <a:cxnSpLocks/>
          </p:cNvCxnSpPr>
          <p:nvPr/>
        </p:nvCxnSpPr>
        <p:spPr>
          <a:xfrm flipV="1">
            <a:off x="6351461" y="2145395"/>
            <a:ext cx="3400762" cy="700722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  <a:headEnd type="diamon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3" name="Table 1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13190851"/>
              </p:ext>
            </p:extLst>
          </p:nvPr>
        </p:nvGraphicFramePr>
        <p:xfrm>
          <a:off x="916812" y="4816536"/>
          <a:ext cx="10329585" cy="1706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4663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782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7095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42417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94310">
                <a:tc>
                  <a:txBody>
                    <a:bodyPr/>
                    <a:lstStyle/>
                    <a:p>
                      <a:r>
                        <a:rPr lang="en-US" sz="1600" noProof="0" dirty="0"/>
                        <a:t>File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noProof="0"/>
                        <a:t>Location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noProof="0" dirty="0"/>
                        <a:t>Purpose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noProof="0" dirty="0"/>
                        <a:t>Notes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4310">
                <a:tc>
                  <a:txBody>
                    <a:bodyPr/>
                    <a:lstStyle/>
                    <a:p>
                      <a:r>
                        <a:rPr lang="en-US" sz="1200" noProof="0" dirty="0">
                          <a:solidFill>
                            <a:schemeClr val="tx1"/>
                          </a:solidFill>
                        </a:rPr>
                        <a:t>      auth.p12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noProof="0">
                          <a:solidFill>
                            <a:schemeClr val="tx1"/>
                          </a:solidFill>
                        </a:rPr>
                        <a:t>Auth Server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noProof="0" dirty="0">
                          <a:solidFill>
                            <a:schemeClr val="tx1"/>
                          </a:solidFill>
                        </a:rPr>
                        <a:t>Auth Server certificate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noProof="0" dirty="0">
                          <a:solidFill>
                            <a:schemeClr val="tx1"/>
                          </a:solidFill>
                        </a:rPr>
                        <a:t>PKCS#12 file </a:t>
                      </a:r>
                      <a:r>
                        <a:rPr lang="en-GB" sz="1200" dirty="0"/>
                        <a:t>containing the Auth Server certificate and private key</a:t>
                      </a:r>
                      <a:endParaRPr lang="en-US" sz="1200" noProof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68161403"/>
                  </a:ext>
                </a:extLst>
              </a:tr>
              <a:tr h="194310">
                <a:tc>
                  <a:txBody>
                    <a:bodyPr/>
                    <a:lstStyle/>
                    <a:p>
                      <a:r>
                        <a:rPr lang="en-US" sz="1200" noProof="0" dirty="0">
                          <a:solidFill>
                            <a:schemeClr val="tx1"/>
                          </a:solidFill>
                        </a:rPr>
                        <a:t>      </a:t>
                      </a:r>
                      <a:r>
                        <a:rPr lang="en-US" sz="1200" noProof="0" dirty="0" err="1">
                          <a:solidFill>
                            <a:schemeClr val="tx1"/>
                          </a:solidFill>
                        </a:rPr>
                        <a:t>cacert.pem</a:t>
                      </a:r>
                      <a:endParaRPr lang="en-US" sz="1200" noProof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noProof="0">
                          <a:solidFill>
                            <a:schemeClr val="tx1"/>
                          </a:solidFill>
                        </a:rPr>
                        <a:t>Auth+UFTPD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noProof="0" dirty="0">
                          <a:solidFill>
                            <a:schemeClr val="tx1"/>
                          </a:solidFill>
                        </a:rPr>
                        <a:t>CA certificate used to sign server certs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noProof="0" dirty="0">
                          <a:solidFill>
                            <a:schemeClr val="tx1"/>
                          </a:solidFill>
                        </a:rPr>
                        <a:t>Self-signed CA cert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5861108"/>
                  </a:ext>
                </a:extLst>
              </a:tr>
              <a:tr h="194310">
                <a:tc>
                  <a:txBody>
                    <a:bodyPr/>
                    <a:lstStyle/>
                    <a:p>
                      <a:r>
                        <a:rPr lang="en-US" sz="1200" noProof="0" dirty="0">
                          <a:solidFill>
                            <a:schemeClr val="tx1"/>
                          </a:solidFill>
                        </a:rPr>
                        <a:t>      user-authfile.txt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noProof="0">
                          <a:solidFill>
                            <a:schemeClr val="tx1"/>
                          </a:solidFill>
                        </a:rPr>
                        <a:t>Auth Server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/>
                        <a:t>User authentication database</a:t>
                      </a:r>
                      <a:endParaRPr lang="en-US" sz="1200" noProof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noProof="0" dirty="0">
                          <a:solidFill>
                            <a:schemeClr val="tx1"/>
                          </a:solidFill>
                        </a:rPr>
                        <a:t>Text file for authentication (</a:t>
                      </a:r>
                      <a:r>
                        <a:rPr lang="en-US" sz="1200" noProof="0" dirty="0" err="1">
                          <a:solidFill>
                            <a:schemeClr val="tx1"/>
                          </a:solidFill>
                        </a:rPr>
                        <a:t>username:hashedpassword:salt:DN</a:t>
                      </a:r>
                      <a:r>
                        <a:rPr lang="en-US" sz="1200" noProof="0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2164305"/>
                  </a:ext>
                </a:extLst>
              </a:tr>
              <a:tr h="194310">
                <a:tc>
                  <a:txBody>
                    <a:bodyPr/>
                    <a:lstStyle/>
                    <a:p>
                      <a:r>
                        <a:rPr lang="en-US" sz="1200" noProof="0" dirty="0">
                          <a:solidFill>
                            <a:schemeClr val="tx1"/>
                          </a:solidFill>
                        </a:rPr>
                        <a:t>      user-</a:t>
                      </a:r>
                      <a:r>
                        <a:rPr lang="en-US" sz="1200" noProof="0" dirty="0" err="1">
                          <a:solidFill>
                            <a:schemeClr val="tx1"/>
                          </a:solidFill>
                        </a:rPr>
                        <a:t>mapfile.json</a:t>
                      </a:r>
                      <a:endParaRPr lang="en-US" sz="1200" noProof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noProof="0">
                          <a:solidFill>
                            <a:schemeClr val="tx1"/>
                          </a:solidFill>
                        </a:rPr>
                        <a:t>Auth Server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noProof="0" dirty="0">
                          <a:solidFill>
                            <a:schemeClr val="tx1"/>
                          </a:solidFill>
                        </a:rPr>
                        <a:t>Maps authenticated user to a local account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noProof="0" dirty="0">
                          <a:solidFill>
                            <a:schemeClr val="tx1"/>
                          </a:solidFill>
                        </a:rPr>
                        <a:t>JSON file for authorization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8679497"/>
                  </a:ext>
                </a:extLst>
              </a:tr>
              <a:tr h="194310">
                <a:tc>
                  <a:txBody>
                    <a:bodyPr/>
                    <a:lstStyle/>
                    <a:p>
                      <a:r>
                        <a:rPr lang="en-US" sz="1200" noProof="0" dirty="0">
                          <a:solidFill>
                            <a:schemeClr val="tx1"/>
                          </a:solidFill>
                        </a:rPr>
                        <a:t>      </a:t>
                      </a:r>
                      <a:r>
                        <a:rPr lang="en-US" sz="1200" noProof="0" dirty="0" err="1">
                          <a:solidFill>
                            <a:schemeClr val="tx1"/>
                          </a:solidFill>
                        </a:rPr>
                        <a:t>uftpd.pem</a:t>
                      </a:r>
                      <a:endParaRPr lang="en-US" sz="1200" noProof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noProof="0">
                          <a:solidFill>
                            <a:schemeClr val="tx1"/>
                          </a:solidFill>
                        </a:rPr>
                        <a:t>UFTPD Server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/>
                        <a:t>UFTPD Server certificate</a:t>
                      </a:r>
                      <a:endParaRPr lang="en-US" sz="1200" noProof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/>
                        <a:t>PEM file containing the UFTPD server certificate</a:t>
                      </a:r>
                      <a:endParaRPr lang="en-US" sz="1200" noProof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0" name="Textfeld 19">
            <a:extLst>
              <a:ext uri="{FF2B5EF4-FFF2-40B4-BE49-F238E27FC236}">
                <a16:creationId xmlns:a16="http://schemas.microsoft.com/office/drawing/2014/main" id="{BCEC2BD1-3FC2-420B-9A43-B1328520D7F2}"/>
              </a:ext>
            </a:extLst>
          </p:cNvPr>
          <p:cNvSpPr txBox="1"/>
          <p:nvPr/>
        </p:nvSpPr>
        <p:spPr>
          <a:xfrm>
            <a:off x="1050153" y="2423558"/>
            <a:ext cx="158488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400" b="1" dirty="0">
                <a:solidFill>
                  <a:srgbClr val="002060"/>
                </a:solidFill>
              </a:rPr>
              <a:t>Client provides</a:t>
            </a:r>
            <a:endParaRPr lang="en-GB" sz="1400" b="1" dirty="0"/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5D730B0B-A70D-4C41-84DE-6D53D550A704}"/>
              </a:ext>
            </a:extLst>
          </p:cNvPr>
          <p:cNvSpPr txBox="1"/>
          <p:nvPr/>
        </p:nvSpPr>
        <p:spPr>
          <a:xfrm>
            <a:off x="5105656" y="3569567"/>
            <a:ext cx="153734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/>
            </a:pPr>
            <a:r>
              <a:rPr lang="en-GB" sz="1400" dirty="0">
                <a:solidFill>
                  <a:srgbClr val="002060"/>
                </a:solidFill>
              </a:rPr>
              <a:t>Auth files</a:t>
            </a:r>
          </a:p>
        </p:txBody>
      </p:sp>
      <p:sp>
        <p:nvSpPr>
          <p:cNvPr id="23" name="Textfeld 22">
            <a:extLst>
              <a:ext uri="{FF2B5EF4-FFF2-40B4-BE49-F238E27FC236}">
                <a16:creationId xmlns:a16="http://schemas.microsoft.com/office/drawing/2014/main" id="{975FB834-5BC9-4AD0-93F8-AC07ACC12808}"/>
              </a:ext>
            </a:extLst>
          </p:cNvPr>
          <p:cNvSpPr txBox="1"/>
          <p:nvPr/>
        </p:nvSpPr>
        <p:spPr>
          <a:xfrm>
            <a:off x="9724260" y="2786912"/>
            <a:ext cx="116963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/>
            </a:pPr>
            <a:r>
              <a:rPr lang="en-GB" sz="1400" dirty="0">
                <a:solidFill>
                  <a:srgbClr val="002060"/>
                </a:solidFill>
              </a:rPr>
              <a:t>UFTPD files</a:t>
            </a:r>
          </a:p>
        </p:txBody>
      </p:sp>
      <p:pic>
        <p:nvPicPr>
          <p:cNvPr id="47" name="Grafik 46">
            <a:extLst>
              <a:ext uri="{FF2B5EF4-FFF2-40B4-BE49-F238E27FC236}">
                <a16:creationId xmlns:a16="http://schemas.microsoft.com/office/drawing/2014/main" id="{2422B5E4-E7DE-42EE-B661-3D63FE4066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4216" y="1433615"/>
            <a:ext cx="981683" cy="725592"/>
          </a:xfrm>
          <a:prstGeom prst="rect">
            <a:avLst/>
          </a:prstGeom>
        </p:spPr>
      </p:pic>
      <p:sp>
        <p:nvSpPr>
          <p:cNvPr id="73" name="Textfeld 72">
            <a:extLst>
              <a:ext uri="{FF2B5EF4-FFF2-40B4-BE49-F238E27FC236}">
                <a16:creationId xmlns:a16="http://schemas.microsoft.com/office/drawing/2014/main" id="{89CCE165-BB2B-4415-9B9D-D27432CA5F5E}"/>
              </a:ext>
            </a:extLst>
          </p:cNvPr>
          <p:cNvSpPr txBox="1"/>
          <p:nvPr/>
        </p:nvSpPr>
        <p:spPr>
          <a:xfrm rot="974215">
            <a:off x="3262108" y="2415987"/>
            <a:ext cx="1439818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100" dirty="0" err="1"/>
              <a:t>username</a:t>
            </a:r>
            <a:r>
              <a:rPr lang="de-DE" sz="1100" dirty="0"/>
              <a:t> + </a:t>
            </a:r>
            <a:r>
              <a:rPr lang="de-DE" sz="1100" dirty="0" err="1"/>
              <a:t>password</a:t>
            </a:r>
            <a:endParaRPr lang="en-GB" sz="1100" dirty="0"/>
          </a:p>
        </p:txBody>
      </p:sp>
      <p:sp>
        <p:nvSpPr>
          <p:cNvPr id="88" name="Textfeld 87">
            <a:extLst>
              <a:ext uri="{FF2B5EF4-FFF2-40B4-BE49-F238E27FC236}">
                <a16:creationId xmlns:a16="http://schemas.microsoft.com/office/drawing/2014/main" id="{AAC8CAD0-A50C-48AA-A439-92B15B96D77A}"/>
              </a:ext>
            </a:extLst>
          </p:cNvPr>
          <p:cNvSpPr txBox="1"/>
          <p:nvPr/>
        </p:nvSpPr>
        <p:spPr>
          <a:xfrm rot="20925892">
            <a:off x="7081565" y="2480949"/>
            <a:ext cx="2291012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100" dirty="0" err="1"/>
              <a:t>local</a:t>
            </a:r>
            <a:r>
              <a:rPr lang="de-DE" sz="1100" dirty="0"/>
              <a:t> </a:t>
            </a:r>
            <a:r>
              <a:rPr lang="de-DE" sz="1100" dirty="0" err="1"/>
              <a:t>username</a:t>
            </a:r>
            <a:r>
              <a:rPr lang="de-DE" sz="1100" dirty="0"/>
              <a:t> + </a:t>
            </a:r>
            <a:r>
              <a:rPr lang="de-DE" sz="1100" dirty="0" err="1"/>
              <a:t>one</a:t>
            </a:r>
            <a:r>
              <a:rPr lang="de-DE" sz="1100" dirty="0"/>
              <a:t>-time </a:t>
            </a:r>
            <a:r>
              <a:rPr lang="de-DE" sz="1100" dirty="0" err="1"/>
              <a:t>password</a:t>
            </a:r>
            <a:endParaRPr lang="en-GB" sz="1100" dirty="0"/>
          </a:p>
        </p:txBody>
      </p:sp>
      <p:sp>
        <p:nvSpPr>
          <p:cNvPr id="97" name="Textfeld 96">
            <a:extLst>
              <a:ext uri="{FF2B5EF4-FFF2-40B4-BE49-F238E27FC236}">
                <a16:creationId xmlns:a16="http://schemas.microsoft.com/office/drawing/2014/main" id="{A8E79680-B134-42E3-95D7-525B9B0E08EE}"/>
              </a:ext>
            </a:extLst>
          </p:cNvPr>
          <p:cNvSpPr txBox="1"/>
          <p:nvPr/>
        </p:nvSpPr>
        <p:spPr>
          <a:xfrm rot="1021969">
            <a:off x="3580740" y="2110544"/>
            <a:ext cx="101265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 dirty="0" err="1">
                <a:solidFill>
                  <a:srgbClr val="285CAA"/>
                </a:solidFill>
              </a:rPr>
              <a:t>Authenticate</a:t>
            </a:r>
            <a:endParaRPr lang="en-GB" sz="1200" b="1" dirty="0">
              <a:solidFill>
                <a:srgbClr val="285CAA"/>
              </a:solidFill>
            </a:endParaRPr>
          </a:p>
        </p:txBody>
      </p:sp>
      <p:sp>
        <p:nvSpPr>
          <p:cNvPr id="104" name="Textfeld 103">
            <a:extLst>
              <a:ext uri="{FF2B5EF4-FFF2-40B4-BE49-F238E27FC236}">
                <a16:creationId xmlns:a16="http://schemas.microsoft.com/office/drawing/2014/main" id="{1BA41951-4211-49A9-9A29-33BDBD4BA8A4}"/>
              </a:ext>
            </a:extLst>
          </p:cNvPr>
          <p:cNvSpPr txBox="1"/>
          <p:nvPr/>
        </p:nvSpPr>
        <p:spPr>
          <a:xfrm rot="20919418">
            <a:off x="7351426" y="2129660"/>
            <a:ext cx="196359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 err="1">
                <a:solidFill>
                  <a:srgbClr val="4C8C5F"/>
                </a:solidFill>
              </a:rPr>
              <a:t>Configurire</a:t>
            </a:r>
            <a:r>
              <a:rPr lang="de-DE" sz="1200" b="1" dirty="0">
                <a:solidFill>
                  <a:srgbClr val="4C8C5F"/>
                </a:solidFill>
              </a:rPr>
              <a:t> Transfer Session</a:t>
            </a:r>
            <a:endParaRPr lang="en-GB" sz="1200" b="1" dirty="0">
              <a:solidFill>
                <a:srgbClr val="4C8C5F"/>
              </a:solidFill>
            </a:endParaRPr>
          </a:p>
        </p:txBody>
      </p:sp>
      <p:cxnSp>
        <p:nvCxnSpPr>
          <p:cNvPr id="105" name="Connector 8">
            <a:extLst>
              <a:ext uri="{FF2B5EF4-FFF2-40B4-BE49-F238E27FC236}">
                <a16:creationId xmlns:a16="http://schemas.microsoft.com/office/drawing/2014/main" id="{0DCB0C93-0BD6-4281-BCBA-D344F1DF880E}"/>
              </a:ext>
            </a:extLst>
          </p:cNvPr>
          <p:cNvCxnSpPr>
            <a:cxnSpLocks/>
          </p:cNvCxnSpPr>
          <p:nvPr/>
        </p:nvCxnSpPr>
        <p:spPr>
          <a:xfrm>
            <a:off x="2471156" y="1058035"/>
            <a:ext cx="6913364" cy="12002"/>
          </a:xfrm>
          <a:prstGeom prst="line">
            <a:avLst/>
          </a:prstGeom>
          <a:ln>
            <a:solidFill>
              <a:srgbClr val="285CAA"/>
            </a:solidFill>
            <a:headEnd type="diamon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" name="Textfeld 110">
            <a:extLst>
              <a:ext uri="{FF2B5EF4-FFF2-40B4-BE49-F238E27FC236}">
                <a16:creationId xmlns:a16="http://schemas.microsoft.com/office/drawing/2014/main" id="{704B1283-0B5A-4612-9B44-C85ABFC6CBE8}"/>
              </a:ext>
            </a:extLst>
          </p:cNvPr>
          <p:cNvSpPr txBox="1"/>
          <p:nvPr/>
        </p:nvSpPr>
        <p:spPr>
          <a:xfrm>
            <a:off x="5436657" y="772116"/>
            <a:ext cx="171630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 dirty="0">
                <a:solidFill>
                  <a:srgbClr val="285CAA"/>
                </a:solidFill>
              </a:rPr>
              <a:t>FTP Login + File Transfer</a:t>
            </a:r>
            <a:endParaRPr lang="en-GB" sz="1200" b="1" dirty="0">
              <a:solidFill>
                <a:srgbClr val="285CAA"/>
              </a:solidFill>
            </a:endParaRPr>
          </a:p>
        </p:txBody>
      </p:sp>
      <p:sp>
        <p:nvSpPr>
          <p:cNvPr id="112" name="Textfeld 111">
            <a:extLst>
              <a:ext uri="{FF2B5EF4-FFF2-40B4-BE49-F238E27FC236}">
                <a16:creationId xmlns:a16="http://schemas.microsoft.com/office/drawing/2014/main" id="{E530352D-3927-4618-87A3-8541D08B988A}"/>
              </a:ext>
            </a:extLst>
          </p:cNvPr>
          <p:cNvSpPr txBox="1"/>
          <p:nvPr/>
        </p:nvSpPr>
        <p:spPr>
          <a:xfrm>
            <a:off x="5474511" y="1080154"/>
            <a:ext cx="136918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dirty="0" err="1"/>
              <a:t>one</a:t>
            </a:r>
            <a:r>
              <a:rPr lang="de-DE" sz="1100" dirty="0"/>
              <a:t>-time </a:t>
            </a:r>
            <a:r>
              <a:rPr lang="de-DE" sz="1100" dirty="0" err="1"/>
              <a:t>password</a:t>
            </a:r>
            <a:r>
              <a:rPr lang="de-DE" sz="1100" dirty="0"/>
              <a:t> </a:t>
            </a:r>
            <a:endParaRPr lang="en-GB" sz="1100" dirty="0"/>
          </a:p>
        </p:txBody>
      </p:sp>
      <p:sp>
        <p:nvSpPr>
          <p:cNvPr id="143" name="Ellipse 142">
            <a:extLst>
              <a:ext uri="{FF2B5EF4-FFF2-40B4-BE49-F238E27FC236}">
                <a16:creationId xmlns:a16="http://schemas.microsoft.com/office/drawing/2014/main" id="{3A0A6518-2BFB-42D1-A40C-D61C3872DEBE}"/>
              </a:ext>
            </a:extLst>
          </p:cNvPr>
          <p:cNvSpPr/>
          <p:nvPr/>
        </p:nvSpPr>
        <p:spPr>
          <a:xfrm>
            <a:off x="6005844" y="493235"/>
            <a:ext cx="302950" cy="267131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dirty="0">
                <a:solidFill>
                  <a:schemeClr val="tx2"/>
                </a:solidFill>
              </a:rPr>
              <a:t>3</a:t>
            </a:r>
            <a:endParaRPr lang="en-GB" sz="1200" dirty="0">
              <a:solidFill>
                <a:schemeClr val="tx2"/>
              </a:solidFill>
            </a:endParaRPr>
          </a:p>
        </p:txBody>
      </p:sp>
      <p:pic>
        <p:nvPicPr>
          <p:cNvPr id="166" name="Grafik 165">
            <a:extLst>
              <a:ext uri="{FF2B5EF4-FFF2-40B4-BE49-F238E27FC236}">
                <a16:creationId xmlns:a16="http://schemas.microsoft.com/office/drawing/2014/main" id="{8B67296E-1B89-4970-BCE6-98D05C2988A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2411" y="5191367"/>
            <a:ext cx="190500" cy="219075"/>
          </a:xfrm>
          <a:prstGeom prst="rect">
            <a:avLst/>
          </a:prstGeom>
        </p:spPr>
      </p:pic>
      <p:pic>
        <p:nvPicPr>
          <p:cNvPr id="168" name="Grafik 167">
            <a:extLst>
              <a:ext uri="{FF2B5EF4-FFF2-40B4-BE49-F238E27FC236}">
                <a16:creationId xmlns:a16="http://schemas.microsoft.com/office/drawing/2014/main" id="{F21B1C1B-E50D-4DA4-A369-CD45827DFE6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5603" y="5437534"/>
            <a:ext cx="238125" cy="228600"/>
          </a:xfrm>
          <a:prstGeom prst="rect">
            <a:avLst/>
          </a:prstGeom>
        </p:spPr>
      </p:pic>
      <p:pic>
        <p:nvPicPr>
          <p:cNvPr id="170" name="Grafik 169">
            <a:extLst>
              <a:ext uri="{FF2B5EF4-FFF2-40B4-BE49-F238E27FC236}">
                <a16:creationId xmlns:a16="http://schemas.microsoft.com/office/drawing/2014/main" id="{6C0B9D99-E70C-4795-B750-B2C456959A8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4772" y="5711277"/>
            <a:ext cx="200025" cy="228600"/>
          </a:xfrm>
          <a:prstGeom prst="rect">
            <a:avLst/>
          </a:prstGeom>
        </p:spPr>
      </p:pic>
      <p:pic>
        <p:nvPicPr>
          <p:cNvPr id="172" name="Grafik 171">
            <a:extLst>
              <a:ext uri="{FF2B5EF4-FFF2-40B4-BE49-F238E27FC236}">
                <a16:creationId xmlns:a16="http://schemas.microsoft.com/office/drawing/2014/main" id="{97311D8A-CD4B-4927-B231-A039A21D579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4755" y="6267590"/>
            <a:ext cx="247650" cy="257175"/>
          </a:xfrm>
          <a:prstGeom prst="rect">
            <a:avLst/>
          </a:prstGeom>
        </p:spPr>
      </p:pic>
      <p:pic>
        <p:nvPicPr>
          <p:cNvPr id="174" name="Grafik 173">
            <a:extLst>
              <a:ext uri="{FF2B5EF4-FFF2-40B4-BE49-F238E27FC236}">
                <a16:creationId xmlns:a16="http://schemas.microsoft.com/office/drawing/2014/main" id="{B2857450-7325-477A-B6FD-A6755FC7721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69415" y="6005983"/>
            <a:ext cx="190500" cy="219075"/>
          </a:xfrm>
          <a:prstGeom prst="rect">
            <a:avLst/>
          </a:prstGeom>
        </p:spPr>
      </p:pic>
      <p:pic>
        <p:nvPicPr>
          <p:cNvPr id="182" name="Grafik 181">
            <a:extLst>
              <a:ext uri="{FF2B5EF4-FFF2-40B4-BE49-F238E27FC236}">
                <a16:creationId xmlns:a16="http://schemas.microsoft.com/office/drawing/2014/main" id="{6200A072-0FEF-4DC1-BB65-6351EDB5C749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362062" y="2418669"/>
            <a:ext cx="1047605" cy="1047605"/>
          </a:xfrm>
          <a:prstGeom prst="rect">
            <a:avLst/>
          </a:prstGeom>
        </p:spPr>
      </p:pic>
      <p:pic>
        <p:nvPicPr>
          <p:cNvPr id="183" name="Grafik 182">
            <a:extLst>
              <a:ext uri="{FF2B5EF4-FFF2-40B4-BE49-F238E27FC236}">
                <a16:creationId xmlns:a16="http://schemas.microsoft.com/office/drawing/2014/main" id="{01C7AD86-76E5-47E6-A009-A67E77035F51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752223" y="1512823"/>
            <a:ext cx="1047605" cy="1047605"/>
          </a:xfrm>
          <a:prstGeom prst="rect">
            <a:avLst/>
          </a:prstGeom>
        </p:spPr>
      </p:pic>
      <p:sp>
        <p:nvSpPr>
          <p:cNvPr id="185" name="Ellipse 184">
            <a:extLst>
              <a:ext uri="{FF2B5EF4-FFF2-40B4-BE49-F238E27FC236}">
                <a16:creationId xmlns:a16="http://schemas.microsoft.com/office/drawing/2014/main" id="{54157BB8-01D8-4C8E-8D7F-A29FDB6DD8DE}"/>
              </a:ext>
            </a:extLst>
          </p:cNvPr>
          <p:cNvSpPr/>
          <p:nvPr/>
        </p:nvSpPr>
        <p:spPr>
          <a:xfrm rot="20794480">
            <a:off x="7909136" y="1896101"/>
            <a:ext cx="302950" cy="267131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dirty="0">
                <a:solidFill>
                  <a:srgbClr val="4C8C5F"/>
                </a:solidFill>
              </a:rPr>
              <a:t>2</a:t>
            </a:r>
            <a:endParaRPr lang="en-GB" sz="1200" dirty="0">
              <a:solidFill>
                <a:srgbClr val="4C8C5F"/>
              </a:solidFill>
            </a:endParaRPr>
          </a:p>
        </p:txBody>
      </p:sp>
      <p:sp>
        <p:nvSpPr>
          <p:cNvPr id="186" name="Ellipse 185">
            <a:extLst>
              <a:ext uri="{FF2B5EF4-FFF2-40B4-BE49-F238E27FC236}">
                <a16:creationId xmlns:a16="http://schemas.microsoft.com/office/drawing/2014/main" id="{D178CAD3-0E39-4937-AE8E-47EF46DFCE09}"/>
              </a:ext>
            </a:extLst>
          </p:cNvPr>
          <p:cNvSpPr/>
          <p:nvPr/>
        </p:nvSpPr>
        <p:spPr>
          <a:xfrm rot="1114517">
            <a:off x="4061966" y="1854607"/>
            <a:ext cx="302950" cy="267131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dirty="0">
                <a:solidFill>
                  <a:schemeClr val="tx2"/>
                </a:solidFill>
              </a:rPr>
              <a:t>1</a:t>
            </a:r>
            <a:endParaRPr lang="en-GB" sz="1200" dirty="0">
              <a:solidFill>
                <a:schemeClr val="tx2"/>
              </a:solidFill>
            </a:endParaRPr>
          </a:p>
        </p:txBody>
      </p:sp>
      <p:sp>
        <p:nvSpPr>
          <p:cNvPr id="189" name="Textfeld 188">
            <a:extLst>
              <a:ext uri="{FF2B5EF4-FFF2-40B4-BE49-F238E27FC236}">
                <a16:creationId xmlns:a16="http://schemas.microsoft.com/office/drawing/2014/main" id="{65812381-66C4-429C-BA24-FA3C0EDC564E}"/>
              </a:ext>
            </a:extLst>
          </p:cNvPr>
          <p:cNvSpPr txBox="1"/>
          <p:nvPr/>
        </p:nvSpPr>
        <p:spPr>
          <a:xfrm>
            <a:off x="5734997" y="3860576"/>
            <a:ext cx="156296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rPr lang="en-GB" sz="1200" dirty="0">
                <a:solidFill>
                  <a:srgbClr val="002060"/>
                </a:solidFill>
              </a:rPr>
              <a:t>• user-authfile.txt</a:t>
            </a:r>
          </a:p>
          <a:p>
            <a:pPr>
              <a:defRPr sz="1400"/>
            </a:pPr>
            <a:r>
              <a:rPr lang="en-GB" sz="1200" dirty="0">
                <a:solidFill>
                  <a:srgbClr val="002060"/>
                </a:solidFill>
              </a:rPr>
              <a:t>• user-</a:t>
            </a:r>
            <a:r>
              <a:rPr lang="en-GB" sz="1200" dirty="0" err="1">
                <a:solidFill>
                  <a:srgbClr val="002060"/>
                </a:solidFill>
              </a:rPr>
              <a:t>mapfile.json</a:t>
            </a:r>
            <a:endParaRPr lang="en-GB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167</Words>
  <Application>Microsoft Office PowerPoint</Application>
  <PresentationFormat>Breitbild</PresentationFormat>
  <Paragraphs>51</Paragraphs>
  <Slides>1</Slides>
  <Notes>1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2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PowerPoint-Präsentation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subject/>
  <dc:creator>v.huber</dc:creator>
  <cp:keywords/>
  <dc:description>generated using python-pptx</dc:description>
  <cp:lastModifiedBy>Valentina Huber</cp:lastModifiedBy>
  <cp:revision>34</cp:revision>
  <dcterms:created xsi:type="dcterms:W3CDTF">2013-01-27T09:14:16Z</dcterms:created>
  <dcterms:modified xsi:type="dcterms:W3CDTF">2026-07-08T23:33:36Z</dcterms:modified>
  <cp:category/>
</cp:coreProperties>
</file>